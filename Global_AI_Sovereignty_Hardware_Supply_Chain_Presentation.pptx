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3.xml" ContentType="application/vnd.openxmlformats-officedocument.presentationml.notesSlide+xml"/>
  <Override PartName="/ppt/charts/chart1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AI investment ($B)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37.1</c:v>
                </c:pt>
                <c:pt idx="2">
                  <c:v>54.8</c:v>
                </c:pt>
                <c:pt idx="3">
                  <c:v>77.599999999999994</c:v>
                </c:pt>
                <c:pt idx="4">
                  <c:v>105.6</c:v>
                </c:pt>
                <c:pt idx="5">
                  <c:v>111</c:v>
                </c:pt>
                <c:pt idx="6">
                  <c:v>139.1</c:v>
                </c:pt>
                <c:pt idx="7">
                  <c:v>191.7</c:v>
                </c:pt>
                <c:pt idx="8">
                  <c:v>269.7</c:v>
                </c:pt>
                <c:pt idx="9">
                  <c:v>347.9</c:v>
                </c:pt>
                <c:pt idx="10">
                  <c:v>448.2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C4-42CC-B1EB-C924F0181A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AI investment ($B)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Pakistan</c:v>
                </c:pt>
                <c:pt idx="1">
                  <c:v>Netherlands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Saudi Arabia</c:v>
                </c:pt>
                <c:pt idx="6">
                  <c:v>UAE</c:v>
                </c:pt>
                <c:pt idx="7">
                  <c:v>Japan</c:v>
                </c:pt>
                <c:pt idx="8">
                  <c:v>South Korea</c:v>
                </c:pt>
                <c:pt idx="9">
                  <c:v>Taiwan</c:v>
                </c:pt>
                <c:pt idx="10">
                  <c:v>China</c:v>
                </c:pt>
                <c:pt idx="11">
                  <c:v>United States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</c:v>
                </c:pt>
                <c:pt idx="1">
                  <c:v>6.2</c:v>
                </c:pt>
                <c:pt idx="2">
                  <c:v>8.3000000000000007</c:v>
                </c:pt>
                <c:pt idx="3">
                  <c:v>10.5</c:v>
                </c:pt>
                <c:pt idx="4">
                  <c:v>12.3</c:v>
                </c:pt>
                <c:pt idx="5">
                  <c:v>20.399999999999999</c:v>
                </c:pt>
                <c:pt idx="6">
                  <c:v>24.8</c:v>
                </c:pt>
                <c:pt idx="7">
                  <c:v>28.9</c:v>
                </c:pt>
                <c:pt idx="8">
                  <c:v>34.200000000000003</c:v>
                </c:pt>
                <c:pt idx="9">
                  <c:v>37.299999999999997</c:v>
                </c:pt>
                <c:pt idx="10">
                  <c:v>79.599999999999994</c:v>
                </c:pt>
                <c:pt idx="11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E0-496C-B49D-D90CF000A6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($B)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centers</c:v>
                </c:pt>
                <c:pt idx="1">
                  <c:v>Semiconductor subsidies</c:v>
                </c:pt>
                <c:pt idx="2">
                  <c:v>AI workforce</c:v>
                </c:pt>
                <c:pt idx="3">
                  <c:v>Sovereign wealth funds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355.8</c:v>
                </c:pt>
                <c:pt idx="1">
                  <c:v>104.3</c:v>
                </c:pt>
                <c:pt idx="2">
                  <c:v>37.4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DC-4842-98B1-9226674E9E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Funding 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D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BB-4681-AB2F-F7AD78F737D9}"/>
              </c:ext>
            </c:extLst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BB-4681-AB2F-F7AD78F737D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BB-4681-AB2F-F7AD78F737D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BB-4681-AB2F-F7AD78F737D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Private</c:v>
                </c:pt>
                <c:pt idx="1">
                  <c:v>Public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288.10000000000002</c:v>
                </c:pt>
                <c:pt idx="1">
                  <c:v>160.19999999999999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BB-4681-AB2F-F7AD78F73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Trade value ($B)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192</c:v>
                </c:pt>
                <c:pt idx="1">
                  <c:v>229.2</c:v>
                </c:pt>
                <c:pt idx="2">
                  <c:v>269.60000000000002</c:v>
                </c:pt>
                <c:pt idx="3">
                  <c:v>280.89999999999998</c:v>
                </c:pt>
                <c:pt idx="4">
                  <c:v>272.5</c:v>
                </c:pt>
                <c:pt idx="5">
                  <c:v>289.2</c:v>
                </c:pt>
                <c:pt idx="6">
                  <c:v>369.2</c:v>
                </c:pt>
                <c:pt idx="7">
                  <c:v>423</c:v>
                </c:pt>
                <c:pt idx="8">
                  <c:v>457.5</c:v>
                </c:pt>
                <c:pt idx="9">
                  <c:v>539.29999999999995</c:v>
                </c:pt>
                <c:pt idx="10">
                  <c:v>584.4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45-4486-A104-4CC0A7D65C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Advanced share of value (%)</c:v>
                </c:pt>
              </c:strCache>
            </c:strRef>
          </c:tx>
          <c:spPr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38.700000000000003</c:v>
                </c:pt>
                <c:pt idx="1">
                  <c:v>39.5</c:v>
                </c:pt>
                <c:pt idx="2">
                  <c:v>40.200000000000003</c:v>
                </c:pt>
                <c:pt idx="3">
                  <c:v>37.1</c:v>
                </c:pt>
                <c:pt idx="4">
                  <c:v>37.4</c:v>
                </c:pt>
                <c:pt idx="5">
                  <c:v>37</c:v>
                </c:pt>
                <c:pt idx="6">
                  <c:v>45.1</c:v>
                </c:pt>
                <c:pt idx="7">
                  <c:v>40.200000000000003</c:v>
                </c:pt>
                <c:pt idx="8">
                  <c:v>45.8</c:v>
                </c:pt>
                <c:pt idx="9">
                  <c:v>47.5</c:v>
                </c:pt>
                <c:pt idx="10">
                  <c:v>49.6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CA-4228-9EC0-E402E6214B3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Exports ($B, 2015–25)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Germany</c:v>
                </c:pt>
                <c:pt idx="1">
                  <c:v>China</c:v>
                </c:pt>
                <c:pt idx="2">
                  <c:v>South Korea</c:v>
                </c:pt>
                <c:pt idx="3">
                  <c:v>Japan</c:v>
                </c:pt>
                <c:pt idx="4">
                  <c:v>United States</c:v>
                </c:pt>
                <c:pt idx="5">
                  <c:v>Taiwan</c:v>
                </c:pt>
                <c:pt idx="6">
                  <c:v>Netherlands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144</c:v>
                </c:pt>
                <c:pt idx="2">
                  <c:v>386</c:v>
                </c:pt>
                <c:pt idx="3">
                  <c:v>454</c:v>
                </c:pt>
                <c:pt idx="4">
                  <c:v>527</c:v>
                </c:pt>
                <c:pt idx="5">
                  <c:v>615</c:v>
                </c:pt>
                <c:pt idx="6">
                  <c:v>1645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A-45BC-A95F-23EBAEE71E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($B)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High-end GPUs</c:v>
                </c:pt>
                <c:pt idx="1">
                  <c:v>Semi equipment</c:v>
                </c:pt>
                <c:pt idx="2">
                  <c:v>AI accelerators</c:v>
                </c:pt>
                <c:pt idx="3">
                  <c:v>EUV lithography</c:v>
                </c:pt>
                <c:pt idx="4">
                  <c:v>DUV lithography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284</c:v>
                </c:pt>
                <c:pt idx="1">
                  <c:v>310</c:v>
                </c:pt>
                <c:pt idx="2">
                  <c:v>338</c:v>
                </c:pt>
                <c:pt idx="3">
                  <c:v>684</c:v>
                </c:pt>
                <c:pt idx="4">
                  <c:v>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B7-4F36-88F1-F75631AC74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84</c:v>
                </c:pt>
                <c:pt idx="4">
                  <c:v>86</c:v>
                </c:pt>
                <c:pt idx="5">
                  <c:v>84</c:v>
                </c:pt>
                <c:pt idx="6">
                  <c:v>83</c:v>
                </c:pt>
                <c:pt idx="7">
                  <c:v>135</c:v>
                </c:pt>
                <c:pt idx="8">
                  <c:v>144</c:v>
                </c:pt>
                <c:pt idx="9">
                  <c:v>135</c:v>
                </c:pt>
                <c:pt idx="10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8-46FA-8928-73DD73EC96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License requirement</c:v>
                </c:pt>
                <c:pt idx="1">
                  <c:v>Entity blacklist</c:v>
                </c:pt>
                <c:pt idx="2">
                  <c:v>Data localization</c:v>
                </c:pt>
                <c:pt idx="3">
                  <c:v>Tech transfer ban</c:v>
                </c:pt>
                <c:pt idx="4">
                  <c:v>Tariff</c:v>
                </c:pt>
                <c:pt idx="5">
                  <c:v>Export ban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103</c:v>
                </c:pt>
                <c:pt idx="1">
                  <c:v>116</c:v>
                </c:pt>
                <c:pt idx="2">
                  <c:v>121</c:v>
                </c:pt>
                <c:pt idx="3">
                  <c:v>129</c:v>
                </c:pt>
                <c:pt idx="4">
                  <c:v>230</c:v>
                </c:pt>
                <c:pt idx="5">
                  <c:v>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78F-B5AA-624DA7CF8A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data-center energy (TWh)</c:v>
                </c:pt>
              </c:strCache>
            </c:strRef>
          </c:tx>
          <c:spPr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124</c:v>
                </c:pt>
                <c:pt idx="1">
                  <c:v>226</c:v>
                </c:pt>
                <c:pt idx="2">
                  <c:v>324</c:v>
                </c:pt>
                <c:pt idx="3">
                  <c:v>453</c:v>
                </c:pt>
                <c:pt idx="4">
                  <c:v>552</c:v>
                </c:pt>
                <c:pt idx="5">
                  <c:v>670</c:v>
                </c:pt>
                <c:pt idx="6">
                  <c:v>763</c:v>
                </c:pt>
                <c:pt idx="7">
                  <c:v>878</c:v>
                </c:pt>
                <c:pt idx="8">
                  <c:v>986</c:v>
                </c:pt>
                <c:pt idx="9">
                  <c:v>1102</c:v>
                </c:pt>
                <c:pt idx="10">
                  <c:v>1209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18-4030-98EA-F5A6C1655A4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grid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Saudi Arabia</c:v>
                </c:pt>
                <c:pt idx="1">
                  <c:v>United States</c:v>
                </c:pt>
                <c:pt idx="2">
                  <c:v>Netherlands</c:v>
                </c:pt>
                <c:pt idx="3">
                  <c:v>South Korea</c:v>
                </c:pt>
                <c:pt idx="4">
                  <c:v>UAE</c:v>
                </c:pt>
                <c:pt idx="5">
                  <c:v>Taiwan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3.6</c:v>
                </c:pt>
                <c:pt idx="2">
                  <c:v>4</c:v>
                </c:pt>
                <c:pt idx="3">
                  <c:v>4.5</c:v>
                </c:pt>
                <c:pt idx="4">
                  <c:v>6.3</c:v>
                </c:pt>
                <c:pt idx="5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E-4F82-A91F-038ACE4DBC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Top-22 revenue ($B)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374</c:v>
                </c:pt>
                <c:pt idx="1">
                  <c:v>392</c:v>
                </c:pt>
                <c:pt idx="2">
                  <c:v>472</c:v>
                </c:pt>
                <c:pt idx="3">
                  <c:v>553</c:v>
                </c:pt>
                <c:pt idx="4">
                  <c:v>527</c:v>
                </c:pt>
                <c:pt idx="5">
                  <c:v>561</c:v>
                </c:pt>
                <c:pt idx="6">
                  <c:v>678</c:v>
                </c:pt>
                <c:pt idx="7">
                  <c:v>702</c:v>
                </c:pt>
                <c:pt idx="8">
                  <c:v>666</c:v>
                </c:pt>
                <c:pt idx="9">
                  <c:v>843</c:v>
                </c:pt>
                <c:pt idx="10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D7-4F41-AC7D-7DA475A68F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 ($B)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Qualcomm</c:v>
                </c:pt>
                <c:pt idx="1">
                  <c:v>Intel</c:v>
                </c:pt>
                <c:pt idx="2">
                  <c:v>SK Hynix</c:v>
                </c:pt>
                <c:pt idx="3">
                  <c:v>TSMC</c:v>
                </c:pt>
                <c:pt idx="4">
                  <c:v>NVIDIA</c:v>
                </c:pt>
                <c:pt idx="5">
                  <c:v>Samsung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46.9</c:v>
                </c:pt>
                <c:pt idx="1">
                  <c:v>57.4</c:v>
                </c:pt>
                <c:pt idx="2">
                  <c:v>68.3</c:v>
                </c:pt>
                <c:pt idx="3">
                  <c:v>107.6</c:v>
                </c:pt>
                <c:pt idx="4">
                  <c:v>177.9</c:v>
                </c:pt>
                <c:pt idx="5">
                  <c:v>269.89999999999998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47-4715-ABAE-82AB78A942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9AA5AF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US</c:v>
                </c:pt>
                <c:pt idx="1">
                  <c:v>Taiwan</c:v>
                </c:pt>
                <c:pt idx="2">
                  <c:v>China</c:v>
                </c:pt>
                <c:pt idx="3">
                  <c:v>S. Korea</c:v>
                </c:pt>
                <c:pt idx="4">
                  <c:v>Neth.</c:v>
                </c:pt>
                <c:pt idx="5">
                  <c:v>Japan</c:v>
                </c:pt>
                <c:pt idx="6">
                  <c:v>France</c:v>
                </c:pt>
                <c:pt idx="7">
                  <c:v>Germany</c:v>
                </c:pt>
                <c:pt idx="8">
                  <c:v>India</c:v>
                </c:pt>
                <c:pt idx="9">
                  <c:v>UAE</c:v>
                </c:pt>
                <c:pt idx="10">
                  <c:v>Saudi</c:v>
                </c:pt>
                <c:pt idx="11">
                  <c:v>Pakistan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87.6</c:v>
                </c:pt>
                <c:pt idx="1">
                  <c:v>82.9</c:v>
                </c:pt>
                <c:pt idx="2">
                  <c:v>70</c:v>
                </c:pt>
                <c:pt idx="3">
                  <c:v>71.400000000000006</c:v>
                </c:pt>
                <c:pt idx="4">
                  <c:v>65.8</c:v>
                </c:pt>
                <c:pt idx="5">
                  <c:v>63.4</c:v>
                </c:pt>
                <c:pt idx="6">
                  <c:v>59.6</c:v>
                </c:pt>
                <c:pt idx="7">
                  <c:v>58.2</c:v>
                </c:pt>
                <c:pt idx="8">
                  <c:v>46.1</c:v>
                </c:pt>
                <c:pt idx="9">
                  <c:v>36.4</c:v>
                </c:pt>
                <c:pt idx="10">
                  <c:v>30.5</c:v>
                </c:pt>
                <c:pt idx="11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8-4DAD-AB3A-DA551C2448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US</c:v>
                </c:pt>
                <c:pt idx="1">
                  <c:v>Taiwan</c:v>
                </c:pt>
                <c:pt idx="2">
                  <c:v>China</c:v>
                </c:pt>
                <c:pt idx="3">
                  <c:v>S. Korea</c:v>
                </c:pt>
                <c:pt idx="4">
                  <c:v>Neth.</c:v>
                </c:pt>
                <c:pt idx="5">
                  <c:v>Japan</c:v>
                </c:pt>
                <c:pt idx="6">
                  <c:v>France</c:v>
                </c:pt>
                <c:pt idx="7">
                  <c:v>Germany</c:v>
                </c:pt>
                <c:pt idx="8">
                  <c:v>India</c:v>
                </c:pt>
                <c:pt idx="9">
                  <c:v>UAE</c:v>
                </c:pt>
                <c:pt idx="10">
                  <c:v>Saudi</c:v>
                </c:pt>
                <c:pt idx="11">
                  <c:v>Pakistan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95.5</c:v>
                </c:pt>
                <c:pt idx="1">
                  <c:v>88.2</c:v>
                </c:pt>
                <c:pt idx="2">
                  <c:v>85.8</c:v>
                </c:pt>
                <c:pt idx="3">
                  <c:v>77.400000000000006</c:v>
                </c:pt>
                <c:pt idx="4">
                  <c:v>70</c:v>
                </c:pt>
                <c:pt idx="5">
                  <c:v>68</c:v>
                </c:pt>
                <c:pt idx="6">
                  <c:v>65</c:v>
                </c:pt>
                <c:pt idx="7">
                  <c:v>63</c:v>
                </c:pt>
                <c:pt idx="8">
                  <c:v>57</c:v>
                </c:pt>
                <c:pt idx="9">
                  <c:v>50.3</c:v>
                </c:pt>
                <c:pt idx="10">
                  <c:v>42.4</c:v>
                </c:pt>
                <c:pt idx="11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8-4DAD-AB3A-DA551C2448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1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18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389120" cy="438912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F2A541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  ·  SEMICONDUCTORS  ·  AI INFRASTRUCTURE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AI Sovereignty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Supply Chain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analysis of investment, chip trade, export controls, energy and industry, 2015 – 2025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5074920"/>
            <a:ext cx="18288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|  Mohamed Ramadan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Elmenshawy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596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countries  •  22 companies  •  5,656 trade flows  •  987 export-control actions  •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 Is Concentrating, and the Chip Supply Chain Is the Lever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is surging and concentrated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AI investment grew 17.9x to $448B in 2025. The US ($185B) and China ($80B) hold 59% of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36792" y="1856232"/>
            <a:ext cx="457200" cy="457200"/>
          </a:xfrm>
          <a:prstGeom prst="ellipse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3679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801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rests on a few chokepoints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3368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Lithography is 50% of $3.9T hardware trade. The Netherlands alone exports 42%, and ASML supplies 30%.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142232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087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are rising from a low 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actions went from 35 a year to about 135. Controlled trade is still only 1.8% of value.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886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36792" y="414223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3679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087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is the next constraint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73368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centers use 1,209 TWh in 2025, 3.2% of the average grid. Taiwan and the UAE are the most exposed.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Dataset Covers, and How Far to Trust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trade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5,656 flows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synthetic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controls &amp; sanctions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313432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313432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synthetic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budgets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026664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country-years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302666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synthetic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73989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grid capacity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739896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country-years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739896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synthetic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53128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45312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indicators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4453128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country-years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4453128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synthetic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66751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1663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5166360"/>
            <a:ext cx="173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company-years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5166360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synthetic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1600200"/>
            <a:ext cx="4069080" cy="2057400"/>
          </a:xfrm>
          <a:prstGeom prst="roundRect">
            <a:avLst>
              <a:gd name="adj" fmla="val 3556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63840" y="176479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863840" y="24688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flagged is_synthetic. Treat results as scenario evidence for direction and relative scale, not as official statistics.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384048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0" y="40050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863840" y="443484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countries across 3 alliance blocs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years, 2015–2025, with 2025 as the latest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Trade, controls, energy and companies join to country by key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$448B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investment, 2025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670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9584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17.9x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9584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growth, 2015–25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27648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$3.9T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2764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chip trade value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4283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25712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25712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hardware share of value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Export-control actions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46704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9584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29584" y="4663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value under export control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44768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7648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1,209 TWh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27648" y="4663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data-center energy, 2025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42832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25712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$1.05T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25712" y="4663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Top-22 company revenue, 2025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AI Investment Grew Nearly 18x in a Decade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7498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002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95360" y="1764792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$448B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595360" y="2468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across 12 countries in 2025, up from $25B in 2015.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361188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37764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0" y="4206240"/>
            <a:ext cx="2788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accelerates after 2021: +38% in 2022, +41% in 2023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capital supplies 64% of 2025 spend, public 36%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total_ai_investment_usd_bn across the 12 tracked countries.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 and China Take 59% of 2025 Investment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0" y="176479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046720" y="24688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AI investment sits in the US ($185B) and China ($80B).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61188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3776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0" y="420624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Western Alliance holds $310B, 69% of the total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and Taiwan invest about 4.3% of GDP, the highest intensity; the US is at 0.6%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is a rounding error at $0.6B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Centers Absorb Most Spend; Subsidies Come Second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766560" y="1554480"/>
          <a:ext cx="2651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9555480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9829800" y="1764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829800" y="2194560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$288B vs public $160B in 2025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subsidies reach $104B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66560" y="489204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995160" y="49377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categories overlap and sum to $528B, above the $448B total. Read them as relative weight, not as a breakdown of the total.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TRADE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Trade Tripled, and Advanced Chips Gained Share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value, $B per year</a:t>
            </a:r>
            <a:endParaRPr lang="en-US" sz="10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400800" y="1554480"/>
          <a:ext cx="5257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hardware share of value, %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400800" y="46634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75120" y="48280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3.0x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675120" y="5532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value, 2015–25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89720" y="46634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418320" y="4754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9418320" y="5440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share by 2025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TRADE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Lithography and a Few Exporters Form the Chokepoints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value, $B cumulative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400800" y="1783080"/>
          <a:ext cx="5257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44652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hardware categories, $B cumulative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75120" y="45994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675120" y="5303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exports come from the Netherlands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8972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464040" y="45994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9464040" y="5303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is lithography machines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CONTROLS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Actions Nearly Quadrupled, With China Most Targeted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restrictions per year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55080" y="178308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type, 2015–25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355080" y="4572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29400" y="473659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629400" y="54406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target China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83880" y="4572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58200" y="473659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458200" y="54406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retaliatory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012680" y="457200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287000" y="473659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10287000" y="5440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multilateral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actions; 96% synthetic. Counts show pattern, not an official register.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GRID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Compute Is Becoming a Grid Planning Problem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data-center electricity use, TWh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55080" y="1783080"/>
          <a:ext cx="5303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national grid used by AI, 2025 (%)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355080" y="44348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29400" y="4599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29400" y="5029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(424 TWh) and the US (405 TWh) use 69% of the total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renewable share more than doubled, 11.5% to 27.6%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is the only country to reach “Severe” constraint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Revenue Nearly Tripled, Led by NVIDIA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of the 22 tracked firms, $B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217920" y="1783080"/>
          <a:ext cx="54406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firms by 2025 revenue, $B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17920" y="4434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92240" y="459943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37.8x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492240" y="5303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revenue growth, 2015–25 ($4.7B to $177.9B)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052560" y="4434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326880" y="459943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9326880" y="5303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sits with the 4 sanction-flagged Chinese firms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SOVEREIGNTY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Country’s Sovereignty Score Rose Since 2015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7680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60020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32520" y="176479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732520" y="2468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China’s gain in index points, the largest of any country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352044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3685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32520" y="4114800"/>
            <a:ext cx="2651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tracks investment (correlation 0.49) but barely tracks geopolitical risk (−0.13)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 (+14 pts) and Saudi Arabia (+12) are climbing fast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trails at 12.9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OUTLOOK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Opportunities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Single-point supply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exports from one country and 30% of supply from one firm (ASML) leaves little slack if access is cut.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8130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Escalating controls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volume is 3.7x its 2015 level, and retaliation drives 48% of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51389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bottlenecks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(7.1% of grid) and the UAE (6.3%) face the steepest grid stress as AI load grows.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6FB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237744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24871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Diversified capacity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the UAE and Saudi Arabia are scaling investment from a small base.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8130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 subsidies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160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$104B of 2025 subsidies is funding new domestic chip capacity.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50292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152C48"/>
          </a:solidFill>
          <a:ln w="12700">
            <a:solidFill>
              <a:srgbClr val="2C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51389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power for compute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5486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share more than doubled to 27.6%; pairing it with data centers lowers carbon exposure.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Priorities for Decision-Makers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exposure to the chokepoints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dependence on lithography and the top-3 exporters, and set dual-sourcing targets for critical tools.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185623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013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controls as a leading indicator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2560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action counts and China-targeted measures; volume is 3.7x its 2015 level and still rising.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0873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power with compute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846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data-center approvals to grid headroom, starting where AI share exceeds 5% of grid.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3952" y="414223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3952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0873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investment portfolios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0528" y="4846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fast-rising markets such as the UAE, Saudi Arabia and India against US and China concentration.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Sovereignty &amp; Hardware Supply Chain  |  Executive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F2A541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4023360"/>
            <a:ext cx="18288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Menshawy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Global AI Sovereignty &amp; Hardware Supply Chain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1270</Words>
  <Application>Microsoft Office PowerPoint</Application>
  <PresentationFormat>Widescreen</PresentationFormat>
  <Paragraphs>214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Elminshawy</cp:lastModifiedBy>
  <cp:revision>4</cp:revision>
  <dcterms:created xsi:type="dcterms:W3CDTF">2026-10-12T11:03:04Z</dcterms:created>
  <dcterms:modified xsi:type="dcterms:W3CDTF">2026-10-16T17:31:22Z</dcterms:modified>
</cp:coreProperties>
</file>