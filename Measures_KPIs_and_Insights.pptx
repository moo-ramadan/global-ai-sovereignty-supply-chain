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Chips, sanctions and the AI race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KPI cards and the key chart of each dashboard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Model project, 2015 to 2025. Part of the data is synthetic.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0058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1737360"/>
            <a:ext cx="100584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0" y="1737360"/>
            <a:ext cx="10058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1737360"/>
            <a:ext cx="10058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1737360"/>
            <a:ext cx="1005840" cy="91440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measures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dashboards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31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Inv $B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national AI investment, USD billions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Trade $B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 trade value in USD billions; by country it equals exports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 Recvd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 measures a country received (target side, inactive relationship)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Energy TWh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 used by AI datacenters, in TWh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Stress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AI grid stress index; higher means more strain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Revenue $B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of the 22 chip companies, by HQ country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% GDP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investment as a percentage of GDP (Budget + Macro)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Sovereignty (Macro)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AI sovereignty index, 0 to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measures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vs trade flows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31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 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sanction measures (by country: imposed)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 Impact $B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estimated impacts; an index, not a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severity on the 1 to 5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 Recvd All Yrs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 received 2015 to 2025, ignoring the year slicer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Control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trade value flagged as export-controlled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Imports $B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 imports in USD billions (importer side)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Trade $B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 minus imports; positive means net exporter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measures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vs energy and grid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31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CO2 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emissions in million tonnes of CO2 (source column x 1,000)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TWh per $B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 used per USD billion of AI investment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Grid Used by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share of the national grid used by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Constrained Countries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 rated High or Severe on energy constraint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 %, Gas %, Nuclear %, Solar &amp; Wind %, Hydro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each source in the energy mix; negatives set to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measures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supply-chain dependency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31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 Exporter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trade shipped by the three largest exporters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Route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carried by the largest exporter-to-importer 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Exporter Countries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 whose exports exceed imports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Export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exports from countries with risk score 8 or more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Sensitivity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trade classed as high geopolitical sensitivity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/ Standard Trade $B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value by hardware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Geo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country geopolitical risk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measures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in country context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31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Spend $B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R&amp;D spending in USD billions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Intensity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spend as a share of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Sanction-Risk Companies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companies flagged as sanction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 HQ Revenue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 of the three largest HQ countries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AI $B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revenue per USD of national AI investment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Country power scorecard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(2025) and the chart to present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10312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$448.2B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 spend, 12 countries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98064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98064" y="1280160"/>
            <a:ext cx="210312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9504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$584.4B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889504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trade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chip trade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47488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280160"/>
            <a:ext cx="210312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38928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measures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Imposed in 2025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96912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280160"/>
            <a:ext cx="210312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88352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1,209 TWh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energy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electricity use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46336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46336" y="1280160"/>
            <a:ext cx="210312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37776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$1,049.9B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637776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revenue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37776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chip firms combined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11064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520440"/>
            <a:ext cx="82296" cy="2743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CHART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chart: AI investment vs sovereignty, sized by AI energy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draws more AI power (424 TWh) than the US (405 TWh) with only 43% of the US investment ($80B vs $185B). The US and China together hold 59% of AI investment.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Sanctions vs trade flows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(2025) and the chart to present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103120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measures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selected year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98064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98064" y="1280160"/>
            <a:ext cx="2103120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9504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$2,684B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889504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estimates: an index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47488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280160"/>
            <a:ext cx="2103120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38928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Export-controlled trade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trade flagged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96912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280160"/>
            <a:ext cx="2103120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88352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2.95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severity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 to 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46336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46336" y="1280160"/>
            <a:ext cx="2103120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37776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637776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to sanctioned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37776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CN, TW, IN, AE, SA, PK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11064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520440"/>
            <a:ext cx="82296" cy="2743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CHART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sanctions received vs net trade balance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the six heavily sanctioned countries are net chip importers (China -$51B, India -$53B). The Netherlands, which imposes the most measures, is the biggest net exporter (+$216B).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AI investment vs energy and grid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(2025) and the chart to present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10312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1,209.5 TWh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energy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electricity,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98064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98064" y="1280160"/>
            <a:ext cx="210312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9504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 Mt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889504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carbon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 tonnes of CO2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47488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280160"/>
            <a:ext cx="210312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38928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TWh per $B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USD billion invested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96912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280160"/>
            <a:ext cx="210312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88352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3.15%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share used by AI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12 countries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46336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46336" y="1280160"/>
            <a:ext cx="210312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37776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637776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 Severe constraint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37776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only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11064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520440"/>
            <a:ext cx="82296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CHART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AI investment as % of GDP vs grid stress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stress follows AI spending relative to GDP (correlation about 0.83), not absolute size. Taiwan (4.3% of GDP, stress 2.43) and the UAE (4.3%, 1.90) are the most stressed; the US and China stay below 1.4.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Chip supply-chain dependency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(2025) and the chart to present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10312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exporters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NL, TW and US share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98064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98064" y="1280160"/>
            <a:ext cx="210312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9504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889504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route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 to South Korea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47488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280160"/>
            <a:ext cx="210312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38928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exporters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NL, JP, TW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96912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280160"/>
            <a:ext cx="210312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88352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exports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countries scoring 8+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46336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46336" y="1280160"/>
            <a:ext cx="210312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37776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34.1%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637776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High-sensitivity trade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37776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$199B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11064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520440"/>
            <a:ext cx="82296" cy="2743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CHART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exporter risk score vs exports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exporter, the Netherlands ($216B), has the lowest risk score (2.0). The second largest, Taiwan ($108B), has the highest (9.5), so 22% of chip exports come from high-risk countries.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Companies in country context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(2025) and the chart to present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10312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$1,049.9B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companies,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98064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98064" y="1280160"/>
            <a:ext cx="210312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9504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$146.5B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889504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spend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R&amp;D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47488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280160"/>
            <a:ext cx="210312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38928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intensity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divided by revenue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96912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280160"/>
            <a:ext cx="210312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88352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Sanction-risk firms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Chinese, of 22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46336" y="1280160"/>
            <a:ext cx="21031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46336" y="1280160"/>
            <a:ext cx="210312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37776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84.7%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637776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HQ countries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37776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KR, TW revenue share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11064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520440"/>
            <a:ext cx="82296" cy="2743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CHART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company revenue per $1 of national AI investment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Korea's two companies earn $9.90 per AI dollar, the Netherlands $6.03, against $0.27 for China's four. This is a 22-company sample, not national productivity.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640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numbers with these limits in mind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data is synthetic (is_synthetic flag); all sanctions are marked Active.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sanction impact overlaps between measures and exceeds total chip trade: use it as an index.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table is a sample of 22 companies, not whole industries.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energy, macro and company tables are annual snapshots: always filter to one year.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analyst choices: 100+ sanctions = heavily sanctioned; risk score 8+ = high risk.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export figures do not match the Trade table, so Trade is the only trade source.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Chips, sanctions and the AI race</dc:title>
  <dc:subject>PptxGenJS Presentation</dc:subject>
  <dc:creator>PptxGenJS</dc:creator>
  <cp:lastModifiedBy>PptxGenJS</cp:lastModifiedBy>
  <cp:revision>1</cp:revision>
  <dcterms:created xsi:type="dcterms:W3CDTF">2026-10-16T07:23:01Z</dcterms:created>
  <dcterms:modified xsi:type="dcterms:W3CDTF">2026-10-16T07:23:01Z</dcterms:modified>
</cp:coreProperties>
</file>